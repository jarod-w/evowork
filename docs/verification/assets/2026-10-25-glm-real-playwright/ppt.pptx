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数据来源：inputs/销售数据.xlsx。销售额来自“月度销售”表，区域目标来自“年度目标”表。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全年销售额5,466.27万元，年度目标7,400.00万元，完成率73.9%，缺口1,933.73万元。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西南全年最高1,408.94万元；华北全年最低1,276.39万元。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西南完成率最高88.1%，华北最低63.8%。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企业版贡献最高，占全年销售额50.9%。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06月最高557.86万元，09月最低397.07万元。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vowork:title"/>
          <p:cNvSpPr txBox="1"/>
          <p:nvPr/>
        </p:nvSpPr>
        <p:spPr>
          <a:xfrm>
            <a:off x="822960" y="2377440"/>
            <a:ext cx="1054577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1F1D"/>
                </a:solidFill>
                <a:latin typeface="Microsoft YaHei"/>
              </a:defRPr>
            </a:pPr>
            <a:r>
              <a:t>2026年季度销售汇报</a:t>
            </a:r>
          </a:p>
        </p:txBody>
      </p:sp>
      <p:sp>
        <p:nvSpPr>
          <p:cNvPr id="3" name="evowork:subtitle"/>
          <p:cNvSpPr txBox="1"/>
          <p:nvPr/>
        </p:nvSpPr>
        <p:spPr>
          <a:xfrm>
            <a:off x="822960" y="3749039"/>
            <a:ext cx="105457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6E6D68"/>
                </a:solidFill>
                <a:latin typeface="Microsoft YaHei"/>
              </a:defRPr>
            </a:pPr>
            <a:r>
              <a:t>覆盖2026年1月至12月 · 销售部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vowork:heading"/>
          <p:cNvSpPr txBox="1"/>
          <p:nvPr/>
        </p:nvSpPr>
        <p:spPr>
          <a:xfrm>
            <a:off x="822960" y="64008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1F1D"/>
                </a:solidFill>
                <a:latin typeface="Microsoft YaHei"/>
              </a:defRPr>
            </a:pPr>
            <a:r>
              <a:t>目录</a:t>
            </a:r>
          </a:p>
        </p:txBody>
      </p:sp>
      <p:sp>
        <p:nvSpPr>
          <p:cNvPr id="3" name="evowork:bullets"/>
          <p:cNvSpPr txBox="1"/>
          <p:nvPr/>
        </p:nvSpPr>
        <p:spPr>
          <a:xfrm>
            <a:off x="822960" y="1645920"/>
            <a:ext cx="1054577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1F1D"/>
                </a:solidFill>
                <a:latin typeface="Microsoft YaHei"/>
              </a:defRPr>
            </a:pPr>
            <a:r>
              <a:t>· 全年与季度概览</a:t>
            </a:r>
          </a:p>
          <a:p>
            <a:pPr>
              <a:defRPr sz="2000">
                <a:solidFill>
                  <a:srgbClr val="1F1F1D"/>
                </a:solidFill>
                <a:latin typeface="Microsoft YaHei"/>
              </a:defRPr>
            </a:pPr>
            <a:r>
              <a:t>· 按区域分析</a:t>
            </a:r>
          </a:p>
          <a:p>
            <a:pPr>
              <a:defRPr sz="2000">
                <a:solidFill>
                  <a:srgbClr val="1F1F1D"/>
                </a:solidFill>
                <a:latin typeface="Microsoft YaHei"/>
              </a:defRPr>
            </a:pPr>
            <a:r>
              <a:t>· 按产品分析</a:t>
            </a:r>
          </a:p>
          <a:p>
            <a:pPr>
              <a:defRPr sz="2000">
                <a:solidFill>
                  <a:srgbClr val="1F1F1D"/>
                </a:solidFill>
                <a:latin typeface="Microsoft YaHei"/>
              </a:defRPr>
            </a:pPr>
            <a:r>
              <a:t>· 月度趋势</a:t>
            </a:r>
          </a:p>
          <a:p>
            <a:pPr>
              <a:defRPr sz="2000">
                <a:solidFill>
                  <a:srgbClr val="1F1F1D"/>
                </a:solidFill>
                <a:latin typeface="Microsoft YaHei"/>
              </a:defRPr>
            </a:pPr>
            <a:r>
              <a:t>· 结论与建议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vowork:heading"/>
          <p:cNvSpPr txBox="1"/>
          <p:nvPr/>
        </p:nvSpPr>
        <p:spPr>
          <a:xfrm>
            <a:off x="822960" y="64008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1F1D"/>
                </a:solidFill>
                <a:latin typeface="Microsoft YaHei"/>
              </a:defRPr>
            </a:pPr>
            <a:r>
              <a:t>全年与季度概览</a:t>
            </a:r>
          </a:p>
        </p:txBody>
      </p:sp>
      <p:graphicFrame>
        <p:nvGraphicFramePr>
          <p:cNvPr id="3" name="evowork:table"/>
          <p:cNvGraphicFramePr>
            <a:graphicFrameLocks noGrp="1"/>
          </p:cNvGraphicFramePr>
          <p:nvPr/>
        </p:nvGraphicFramePr>
        <p:xfrm>
          <a:off x="822960" y="1645920"/>
          <a:ext cx="10545775" cy="3657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6443"/>
                <a:gridCol w="2636443"/>
                <a:gridCol w="2636443"/>
                <a:gridCol w="2636446"/>
              </a:tblGrid>
              <a:tr h="609599">
                <a:tc>
                  <a:txBody>
                    <a:bodyPr/>
                    <a:lstStyle/>
                    <a:p>
                      <a:pPr>
                        <a:defRPr sz="1400" b="1">
                          <a:latin typeface="Microsoft YaHei"/>
                        </a:defRPr>
                      </a:pPr>
                      <a:r>
                        <a:t>期间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Microsoft YaHei"/>
                        </a:defRPr>
                      </a:pPr>
                      <a:r>
                        <a:t>销售额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Microsoft YaHei"/>
                        </a:defRPr>
                      </a:pPr>
                      <a:r>
                        <a:t>占比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Microsoft YaHei"/>
                        </a:defRPr>
                      </a:pPr>
                      <a:r>
                        <a:t>环比</a:t>
                      </a:r>
                    </a:p>
                  </a:txBody>
                  <a:tcPr/>
                </a:tc>
              </a:tr>
              <a:tr h="609599"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1,300.23万元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23.8%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609599"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1,429.48万元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26.2%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+9.9%</a:t>
                      </a:r>
                    </a:p>
                  </a:txBody>
                  <a:tcPr/>
                </a:tc>
              </a:tr>
              <a:tr h="609599"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1,277.50万元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23.4%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-10.6%</a:t>
                      </a:r>
                    </a:p>
                  </a:txBody>
                  <a:tcPr/>
                </a:tc>
              </a:tr>
              <a:tr h="609599"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Q4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1,459.06万元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26.7%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+14.2%</a:t>
                      </a:r>
                    </a:p>
                  </a:txBody>
                  <a:tcPr/>
                </a:tc>
              </a:tr>
              <a:tr h="609604"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全年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5,466.27万元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evowork:caption"/>
          <p:cNvSpPr txBox="1"/>
          <p:nvPr/>
        </p:nvSpPr>
        <p:spPr>
          <a:xfrm>
            <a:off x="822960" y="6035040"/>
            <a:ext cx="105457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E6D68"/>
                </a:solidFill>
                <a:latin typeface="Microsoft YaHei"/>
              </a:defRPr>
            </a:pPr>
            <a:r>
              <a:t>数据来源：inputs/销售数据.xlsx · 月度销售表；全年目标完成率73.9%。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vowork:heading"/>
          <p:cNvSpPr txBox="1"/>
          <p:nvPr/>
        </p:nvSpPr>
        <p:spPr>
          <a:xfrm>
            <a:off x="822960" y="64008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1F1D"/>
                </a:solidFill>
                <a:latin typeface="Microsoft YaHei"/>
              </a:defRPr>
            </a:pPr>
            <a:r>
              <a:t>按区域：季度销售额</a:t>
            </a:r>
          </a:p>
        </p:txBody>
      </p:sp>
      <p:pic>
        <p:nvPicPr>
          <p:cNvPr id="3" name="evowork:chart" descr="quarterly_reg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45920"/>
            <a:ext cx="6502398" cy="3657599"/>
          </a:xfrm>
          <a:prstGeom prst="rect">
            <a:avLst/>
          </a:prstGeom>
        </p:spPr>
      </p:pic>
      <p:sp>
        <p:nvSpPr>
          <p:cNvPr id="4" name="evowork:caption"/>
          <p:cNvSpPr txBox="1"/>
          <p:nvPr/>
        </p:nvSpPr>
        <p:spPr>
          <a:xfrm>
            <a:off x="822960" y="6035040"/>
            <a:ext cx="105457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E6D68"/>
                </a:solidFill>
                <a:latin typeface="Microsoft YaHei"/>
              </a:defRPr>
            </a:pPr>
            <a:r>
              <a:t>数据来源：inputs/销售数据.xlsx · 月度销售表；四个区域按季度汇总。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vowork:heading"/>
          <p:cNvSpPr txBox="1"/>
          <p:nvPr/>
        </p:nvSpPr>
        <p:spPr>
          <a:xfrm>
            <a:off x="822960" y="64008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1F1D"/>
                </a:solidFill>
                <a:latin typeface="Microsoft YaHei"/>
              </a:defRPr>
            </a:pPr>
            <a:r>
              <a:t>按区域：全年表现</a:t>
            </a:r>
          </a:p>
        </p:txBody>
      </p:sp>
      <p:graphicFrame>
        <p:nvGraphicFramePr>
          <p:cNvPr id="3" name="evowork:table"/>
          <p:cNvGraphicFramePr>
            <a:graphicFrameLocks noGrp="1"/>
          </p:cNvGraphicFramePr>
          <p:nvPr/>
        </p:nvGraphicFramePr>
        <p:xfrm>
          <a:off x="822960" y="1645920"/>
          <a:ext cx="10545775" cy="3657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9155"/>
                <a:gridCol w="2109155"/>
                <a:gridCol w="2109155"/>
                <a:gridCol w="2109155"/>
                <a:gridCol w="2109155"/>
              </a:tblGrid>
              <a:tr h="609599">
                <a:tc>
                  <a:txBody>
                    <a:bodyPr/>
                    <a:lstStyle/>
                    <a:p>
                      <a:pPr>
                        <a:defRPr sz="1400" b="1">
                          <a:latin typeface="Microsoft YaHei"/>
                        </a:defRPr>
                      </a:pPr>
                      <a:r>
                        <a:t>区域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Microsoft YaHei"/>
                        </a:defRPr>
                      </a:pPr>
                      <a:r>
                        <a:t>销售额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Microsoft YaHei"/>
                        </a:defRPr>
                      </a:pPr>
                      <a:r>
                        <a:t>占比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Microsoft YaHei"/>
                        </a:defRPr>
                      </a:pPr>
                      <a:r>
                        <a:t>年度目标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Microsoft YaHei"/>
                        </a:defRPr>
                      </a:pPr>
                      <a:r>
                        <a:t>完成率</a:t>
                      </a:r>
                    </a:p>
                  </a:txBody>
                  <a:tcPr/>
                </a:tc>
              </a:tr>
              <a:tr h="609599"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西南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1,408.94万元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25.8%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1,600.00万元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88.1%</a:t>
                      </a:r>
                    </a:p>
                  </a:txBody>
                  <a:tcPr/>
                </a:tc>
              </a:tr>
              <a:tr h="609599"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华东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1,394.99万元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25.5%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2,000.00万元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69.7%</a:t>
                      </a:r>
                    </a:p>
                  </a:txBody>
                  <a:tcPr/>
                </a:tc>
              </a:tr>
              <a:tr h="609599"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华南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1,385.95万元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25.4%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1,800.00万元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77.0%</a:t>
                      </a:r>
                    </a:p>
                  </a:txBody>
                  <a:tcPr/>
                </a:tc>
              </a:tr>
              <a:tr h="609599"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华北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1,276.39万元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23.4%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2,000.00万元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63.8%</a:t>
                      </a:r>
                    </a:p>
                  </a:txBody>
                  <a:tcPr/>
                </a:tc>
              </a:tr>
              <a:tr h="609604"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合计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5,466.27万元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7,400.00万元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Microsoft YaHei"/>
                        </a:defRPr>
                      </a:pPr>
                      <a:r>
                        <a:t>73.9%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evowork:caption"/>
          <p:cNvSpPr txBox="1"/>
          <p:nvPr/>
        </p:nvSpPr>
        <p:spPr>
          <a:xfrm>
            <a:off x="822960" y="6035040"/>
            <a:ext cx="105457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E6D68"/>
                </a:solidFill>
                <a:latin typeface="Microsoft YaHei"/>
              </a:defRPr>
            </a:pPr>
            <a:r>
              <a:t>数据来源：inputs/销售数据.xlsx · 月度销售表与年度目标表。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vowork:heading"/>
          <p:cNvSpPr txBox="1"/>
          <p:nvPr/>
        </p:nvSpPr>
        <p:spPr>
          <a:xfrm>
            <a:off x="822960" y="64008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1F1D"/>
                </a:solidFill>
                <a:latin typeface="Microsoft YaHei"/>
              </a:defRPr>
            </a:pPr>
            <a:r>
              <a:t>按产品：销售额占比</a:t>
            </a:r>
          </a:p>
        </p:txBody>
      </p:sp>
      <p:pic>
        <p:nvPicPr>
          <p:cNvPr id="3" name="evowork:chart" descr="product_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45920"/>
            <a:ext cx="6502398" cy="3657599"/>
          </a:xfrm>
          <a:prstGeom prst="rect">
            <a:avLst/>
          </a:prstGeom>
        </p:spPr>
      </p:pic>
      <p:sp>
        <p:nvSpPr>
          <p:cNvPr id="4" name="evowork:caption"/>
          <p:cNvSpPr txBox="1"/>
          <p:nvPr/>
        </p:nvSpPr>
        <p:spPr>
          <a:xfrm>
            <a:off x="822960" y="6035040"/>
            <a:ext cx="105457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E6D68"/>
                </a:solidFill>
                <a:latin typeface="Microsoft YaHei"/>
              </a:defRPr>
            </a:pPr>
            <a:r>
              <a:t>数据来源：inputs/销售数据.xlsx · 月度销售表；企业版 50.9%；专业版 31.5%；标准版 17.6%。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vowork:heading"/>
          <p:cNvSpPr txBox="1"/>
          <p:nvPr/>
        </p:nvSpPr>
        <p:spPr>
          <a:xfrm>
            <a:off x="822960" y="64008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1F1D"/>
                </a:solidFill>
                <a:latin typeface="Microsoft YaHei"/>
              </a:defRPr>
            </a:pPr>
            <a:r>
              <a:t>月度趋势</a:t>
            </a:r>
          </a:p>
        </p:txBody>
      </p:sp>
      <p:pic>
        <p:nvPicPr>
          <p:cNvPr id="3" name="evowork:chart" descr="monthly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45920"/>
            <a:ext cx="6502398" cy="3657599"/>
          </a:xfrm>
          <a:prstGeom prst="rect">
            <a:avLst/>
          </a:prstGeom>
        </p:spPr>
      </p:pic>
      <p:sp>
        <p:nvSpPr>
          <p:cNvPr id="4" name="evowork:caption"/>
          <p:cNvSpPr txBox="1"/>
          <p:nvPr/>
        </p:nvSpPr>
        <p:spPr>
          <a:xfrm>
            <a:off x="822960" y="6035040"/>
            <a:ext cx="105457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E6D68"/>
                </a:solidFill>
                <a:latin typeface="Microsoft YaHei"/>
              </a:defRPr>
            </a:pPr>
            <a:r>
              <a:t>数据来源：inputs/销售数据.xlsx · 月度销售表；2026年1月至12月月度销售额。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vowork:heading"/>
          <p:cNvSpPr txBox="1"/>
          <p:nvPr/>
        </p:nvSpPr>
        <p:spPr>
          <a:xfrm>
            <a:off x="822960" y="64008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1F1D"/>
                </a:solidFill>
                <a:latin typeface="Microsoft YaHei"/>
              </a:defRPr>
            </a:pPr>
            <a:r>
              <a:t>结论与建议</a:t>
            </a:r>
          </a:p>
        </p:txBody>
      </p:sp>
      <p:sp>
        <p:nvSpPr>
          <p:cNvPr id="3" name="evowork:bullets"/>
          <p:cNvSpPr txBox="1"/>
          <p:nvPr/>
        </p:nvSpPr>
        <p:spPr>
          <a:xfrm>
            <a:off x="822960" y="1645920"/>
            <a:ext cx="1054577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1F1D"/>
                </a:solidFill>
                <a:latin typeface="Microsoft YaHei"/>
              </a:defRPr>
            </a:pPr>
            <a:r>
              <a:t>· 全年销售额5,466.27万元，完成年度目标73.9%。</a:t>
            </a:r>
          </a:p>
          <a:p>
            <a:pPr>
              <a:defRPr sz="2000">
                <a:solidFill>
                  <a:srgbClr val="1F1F1D"/>
                </a:solidFill>
                <a:latin typeface="Microsoft YaHei"/>
              </a:defRPr>
            </a:pPr>
            <a:r>
              <a:t>· 西南进度领先88.1%，华北待补缺口，Q4已回升。</a:t>
            </a:r>
          </a:p>
          <a:p>
            <a:pPr>
              <a:defRPr sz="2000">
                <a:solidFill>
                  <a:srgbClr val="1F1F1D"/>
                </a:solidFill>
                <a:latin typeface="Microsoft YaHei"/>
              </a:defRPr>
            </a:pPr>
            <a:r>
              <a:t>· 企业版贡献50.9%，是高价值增长核心。</a:t>
            </a:r>
          </a:p>
          <a:p>
            <a:pPr>
              <a:defRPr sz="2000">
                <a:solidFill>
                  <a:srgbClr val="1F1F1D"/>
                </a:solidFill>
                <a:latin typeface="Microsoft YaHei"/>
              </a:defRPr>
            </a:pPr>
            <a:r>
              <a:t>· 月度呈波动后回升，6月最高，9月最低。</a:t>
            </a:r>
          </a:p>
          <a:p>
            <a:pPr>
              <a:defRPr sz="2000">
                <a:solidFill>
                  <a:srgbClr val="1F1F1D"/>
                </a:solidFill>
                <a:latin typeface="Microsoft YaHei"/>
              </a:defRPr>
            </a:pPr>
            <a:r>
              <a:t>· 建议复制企业版打法，并加强华北目标跟进。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2026年季度销售汇报</dc:title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>evowork-template:business</cp:category>
</cp:coreProperties>
</file>